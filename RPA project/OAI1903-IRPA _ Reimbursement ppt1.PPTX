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80" r:id="rId2"/>
    <p:sldId id="366" r:id="rId3"/>
    <p:sldId id="380" r:id="rId4"/>
    <p:sldId id="383" r:id="rId5"/>
    <p:sldId id="384" r:id="rId6"/>
    <p:sldId id="385" r:id="rId7"/>
    <p:sldId id="386" r:id="rId8"/>
    <p:sldId id="387" r:id="rId9"/>
    <p:sldId id="388" r:id="rId10"/>
    <p:sldId id="389" r:id="rId11"/>
    <p:sldId id="390" r:id="rId12"/>
    <p:sldId id="391" r:id="rId13"/>
    <p:sldId id="400" r:id="rId14"/>
    <p:sldId id="401" r:id="rId15"/>
    <p:sldId id="402" r:id="rId16"/>
    <p:sldId id="392" r:id="rId17"/>
    <p:sldId id="393" r:id="rId18"/>
    <p:sldId id="394" r:id="rId19"/>
    <p:sldId id="395" r:id="rId20"/>
    <p:sldId id="28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p:scale>
          <a:sx n="83" d="100"/>
          <a:sy n="83" d="100"/>
        </p:scale>
        <p:origin x="1565" y="26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CD5F-EBB1-C589-180E-A32EB9D36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11E15-3F30-A1B5-DACF-30CB4E43B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D2BD54-82B7-7FAB-612D-A8CFDB467A0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4DA9AF5-C9C5-9284-5802-25990DA09DBB}"/>
              </a:ext>
            </a:extLst>
          </p:cNvPr>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2350160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896E-B641-4675-722F-BFC95CB2C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307DD-9414-3B75-7FBE-1EF446A44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13A8B-D738-E964-1692-84FFE6BF039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25EC9E2-7296-3238-CF70-5C3EB6EA78E1}"/>
              </a:ext>
            </a:extLst>
          </p:cNvPr>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3117691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3259B-5343-C5C0-9B6D-73BFEC939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502A6-F0C1-A3D4-490B-B46FB134F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2041C-105C-6970-0A1D-CB3F39A0619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B630ADE-D7C2-D6E0-60FB-736FED20E21E}"/>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821221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www.uipath.com/blog/product-and-updates/uipath-at-workautomating-the-invoice-process" TargetMode="External"/><Relationship Id="rId5" Type="http://schemas.openxmlformats.org/officeDocument/2006/relationships/hyperlink" Target="https://www.researchgate.net/publication/381850671_INTELLIGENT_AUTOMATION_IN_ACCOUNTING_AND_FINANCIAL_REPORTING" TargetMode="External"/><Relationship Id="rId4" Type="http://schemas.openxmlformats.org/officeDocument/2006/relationships/hyperlink" Target="https://www.researchgate.net/publication/373144276_Expense_Tracker"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0" y="1047694"/>
            <a:ext cx="9144000" cy="5241739"/>
            <a:chOff x="0" y="1047694"/>
            <a:chExt cx="9144000" cy="5241739"/>
          </a:xfrm>
        </p:grpSpPr>
        <p:sp>
          <p:nvSpPr>
            <p:cNvPr id="22" name="TextBox 21"/>
            <p:cNvSpPr txBox="1"/>
            <p:nvPr/>
          </p:nvSpPr>
          <p:spPr>
            <a:xfrm>
              <a:off x="177781" y="4812105"/>
              <a:ext cx="4322209" cy="1477328"/>
            </a:xfrm>
            <a:prstGeom prst="rect">
              <a:avLst/>
            </a:prstGeom>
            <a:noFill/>
          </p:spPr>
          <p:txBody>
            <a:bodyPr wrap="square" rtlCol="0">
              <a:spAutoFit/>
            </a:bodyPr>
            <a:lstStyle/>
            <a:p>
              <a:pPr>
                <a:lnSpc>
                  <a:spcPct val="150000"/>
                </a:lnSpc>
              </a:pPr>
              <a:r>
                <a:rPr lang="en-US" sz="2000" b="1" dirty="0"/>
                <a:t>220701044</a:t>
              </a:r>
            </a:p>
            <a:p>
              <a:r>
                <a:rPr lang="en-US" sz="2000" b="1" dirty="0"/>
                <a:t>K BHARGAVI</a:t>
              </a:r>
            </a:p>
            <a:p>
              <a:r>
                <a:rPr lang="en-US" sz="2000" b="1" dirty="0"/>
                <a:t>Mrs. J. Jinu Sophia, M.E., (</a:t>
              </a:r>
              <a:r>
                <a:rPr lang="en-US" sz="2000" b="1" dirty="0" err="1"/>
                <a:t>Ph.D</a:t>
              </a:r>
              <a:r>
                <a:rPr lang="en-US" sz="2000" b="1" dirty="0"/>
                <a:t>)</a:t>
              </a:r>
            </a:p>
            <a:p>
              <a:r>
                <a:rPr lang="en-IN" sz="2000" b="1" dirty="0"/>
                <a:t>Computer Science and Engineering</a:t>
              </a:r>
              <a:endParaRPr lang="en-US" sz="2000" b="1" dirty="0"/>
            </a:p>
          </p:txBody>
        </p:sp>
        <p:grpSp>
          <p:nvGrpSpPr>
            <p:cNvPr id="43" name="Group 42"/>
            <p:cNvGrpSpPr/>
            <p:nvPr/>
          </p:nvGrpSpPr>
          <p:grpSpPr>
            <a:xfrm>
              <a:off x="0" y="1047694"/>
              <a:ext cx="9144000" cy="3567777"/>
              <a:chOff x="0" y="1047694"/>
              <a:chExt cx="9144000" cy="356777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18869" y="1047694"/>
                <a:ext cx="4014973" cy="1075928"/>
                <a:chOff x="156291" y="1072733"/>
                <a:chExt cx="5278947" cy="1075928"/>
              </a:xfrm>
            </p:grpSpPr>
            <p:sp>
              <p:nvSpPr>
                <p:cNvPr id="51" name="Pentagon 50"/>
                <p:cNvSpPr/>
                <p:nvPr/>
              </p:nvSpPr>
              <p:spPr>
                <a:xfrm>
                  <a:off x="156291" y="107273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244806" y="2323671"/>
                <a:ext cx="4543217" cy="1200329"/>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ea typeface="Open Sans Bold" panose="020B0806030504020204" pitchFamily="34" charset="0"/>
                    <a:cs typeface="Times New Roman" panose="02020603050405020304" pitchFamily="18" charset="0"/>
                  </a:rPr>
                  <a:t>REIMBURSEMENT </a:t>
                </a:r>
              </a:p>
              <a:p>
                <a:r>
                  <a:rPr lang="en-US" sz="3600" b="1" dirty="0">
                    <a:solidFill>
                      <a:schemeClr val="bg1"/>
                    </a:solidFill>
                    <a:latin typeface="Times New Roman" panose="02020603050405020304" pitchFamily="18" charset="0"/>
                    <a:ea typeface="Open Sans Bold" panose="020B0806030504020204" pitchFamily="34" charset="0"/>
                    <a:cs typeface="Times New Roman" panose="02020603050405020304" pitchFamily="18" charset="0"/>
                  </a:rPr>
                  <a:t>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9" name="TextBox 8">
            <a:extLst>
              <a:ext uri="{FF2B5EF4-FFF2-40B4-BE49-F238E27FC236}">
                <a16:creationId xmlns:a16="http://schemas.microsoft.com/office/drawing/2014/main" id="{F663940A-2C57-345B-050D-F68EFD2F0A0A}"/>
              </a:ext>
            </a:extLst>
          </p:cNvPr>
          <p:cNvSpPr txBox="1"/>
          <p:nvPr/>
        </p:nvSpPr>
        <p:spPr>
          <a:xfrm>
            <a:off x="107504" y="914400"/>
            <a:ext cx="8845996" cy="3234860"/>
          </a:xfrm>
          <a:prstGeom prst="rect">
            <a:avLst/>
          </a:prstGeom>
          <a:noFill/>
        </p:spPr>
        <p:txBody>
          <a:bodyPr wrap="square" rtlCol="0">
            <a:spAutoFit/>
          </a:bodyPr>
          <a:lstStyle/>
          <a:p>
            <a:endParaRPr lang="en-US" dirty="0"/>
          </a:p>
          <a:p>
            <a:pPr algn="just">
              <a:lnSpc>
                <a:spcPct val="150000"/>
              </a:lnSpc>
            </a:pPr>
            <a:r>
              <a:rPr lang="en-US" dirty="0"/>
              <a:t> </a:t>
            </a:r>
            <a:r>
              <a:rPr lang="en-US" dirty="0">
                <a:latin typeface="Times New Roman" panose="02020603050405020304" pitchFamily="18" charset="0"/>
                <a:cs typeface="Times New Roman" panose="02020603050405020304" pitchFamily="18" charset="0"/>
              </a:rPr>
              <a:t>The "Reimbursement Bot" is an automated solution designed to streamline invoice processing and reimbursement workflows. Using UiPath and OCR technologies, the bot extracts text from invoice PDFs, categorizes expenses, validates data against predefined policies, and generates structured Excel reports. This automation reduces manual intervention, minimizes errors, and ensures compliance with organizational standards. By improving efficiency and accuracy, the "Reimbursement Bot" provides a scalable and reliable system for managing high volumes of invoices.</a:t>
            </a:r>
            <a:endParaRPr lang="en-IN"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9381"/>
            <a:ext cx="8763000" cy="808037"/>
          </a:xfrm>
        </p:spPr>
        <p:txBody>
          <a:bodyPr>
            <a:normAutofit/>
          </a:bodyPr>
          <a:lstStyle/>
          <a:p>
            <a:r>
              <a:rPr lang="en-US" sz="3600" dirty="0"/>
              <a:t>Need for the Reimbursement Bot </a:t>
            </a:r>
            <a:endParaRPr lang="en-IN" sz="3600" dirty="0">
              <a:latin typeface="+mj-lt"/>
            </a:endParaRPr>
          </a:p>
        </p:txBody>
      </p:sp>
      <p:sp>
        <p:nvSpPr>
          <p:cNvPr id="3" name="Content Placeholder 2"/>
          <p:cNvSpPr>
            <a:spLocks noGrp="1"/>
          </p:cNvSpPr>
          <p:nvPr>
            <p:ph idx="1"/>
          </p:nvPr>
        </p:nvSpPr>
        <p:spPr/>
        <p:txBody>
          <a:bodyPr>
            <a:normAutofit fontScale="62500" lnSpcReduction="20000"/>
          </a:bodyPr>
          <a:lstStyle/>
          <a:p>
            <a:pPr marL="0" indent="0" algn="just">
              <a:lnSpc>
                <a:spcPct val="120000"/>
              </a:lnSpc>
              <a:buNone/>
            </a:pPr>
            <a:r>
              <a:rPr lang="en-US" sz="2900" dirty="0">
                <a:latin typeface="Times New Roman" panose="02020603050405020304" pitchFamily="18" charset="0"/>
              </a:rPr>
              <a:t>Manual invoice processing is often slow, prone to errors, and requires significant human effort. With the increasing volume of invoices in organizations, there is a growing need for an automated, scalable solution that can handle diverse invoice formats efficiently. An automated system ensures compliance with expense policies, reduces operational costs, and minimizes the risk of inaccuracies.</a:t>
            </a:r>
          </a:p>
          <a:p>
            <a:pPr marL="0" indent="0" algn="just">
              <a:lnSpc>
                <a:spcPct val="120000"/>
              </a:lnSpc>
              <a:buNone/>
            </a:pPr>
            <a:endParaRPr lang="en-US" sz="2900" b="1" dirty="0">
              <a:latin typeface="Times New Roman" panose="02020603050405020304" pitchFamily="18" charset="0"/>
            </a:endParaRPr>
          </a:p>
          <a:p>
            <a:pPr algn="just">
              <a:lnSpc>
                <a:spcPct val="120000"/>
              </a:lnSpc>
              <a:buFont typeface="Arial" panose="020B0604020202020204" pitchFamily="34" charset="0"/>
              <a:buChar char="•"/>
            </a:pPr>
            <a:r>
              <a:rPr lang="en-US" sz="2900" dirty="0">
                <a:latin typeface="Times New Roman" panose="02020603050405020304" pitchFamily="18" charset="0"/>
              </a:rPr>
              <a:t>Manual processing is error-prone and time-consuming.</a:t>
            </a:r>
          </a:p>
          <a:p>
            <a:pPr algn="just">
              <a:lnSpc>
                <a:spcPct val="120000"/>
              </a:lnSpc>
              <a:buFont typeface="Arial" panose="020B0604020202020204" pitchFamily="34" charset="0"/>
              <a:buChar char="•"/>
            </a:pPr>
            <a:r>
              <a:rPr lang="en-US" sz="2900" dirty="0">
                <a:latin typeface="Times New Roman" panose="02020603050405020304" pitchFamily="18" charset="0"/>
              </a:rPr>
              <a:t>Automation can handle high volumes of invoices effectively.</a:t>
            </a:r>
          </a:p>
          <a:p>
            <a:pPr algn="just">
              <a:lnSpc>
                <a:spcPct val="120000"/>
              </a:lnSpc>
              <a:buFont typeface="Arial" panose="020B0604020202020204" pitchFamily="34" charset="0"/>
              <a:buChar char="•"/>
            </a:pPr>
            <a:r>
              <a:rPr lang="en-US" sz="2900" dirty="0">
                <a:latin typeface="Times New Roman" panose="02020603050405020304" pitchFamily="18" charset="0"/>
              </a:rPr>
              <a:t>Ensures compliance with policies for accurate reimbursements.</a:t>
            </a:r>
          </a:p>
          <a:p>
            <a:pPr algn="just">
              <a:lnSpc>
                <a:spcPct val="120000"/>
              </a:lnSpc>
              <a:buFont typeface="Arial" panose="020B0604020202020204" pitchFamily="34" charset="0"/>
              <a:buChar char="•"/>
            </a:pPr>
            <a:r>
              <a:rPr lang="en-US" sz="2900" dirty="0">
                <a:latin typeface="Times New Roman" panose="02020603050405020304" pitchFamily="18" charset="0"/>
              </a:rPr>
              <a:t>Reduces operational costs and improves overall efficiency.</a:t>
            </a:r>
          </a:p>
          <a:p>
            <a:pPr algn="just">
              <a:lnSpc>
                <a:spcPct val="120000"/>
              </a:lnSpc>
              <a:buFont typeface="Arial" panose="020B0604020202020204" pitchFamily="34" charset="0"/>
              <a:buChar char="•"/>
            </a:pPr>
            <a:r>
              <a:rPr lang="en-US" sz="2900" dirty="0">
                <a:latin typeface="Times New Roman" panose="02020603050405020304" pitchFamily="18" charset="0"/>
              </a:rPr>
              <a:t>Provides faster turnaround time for reimbursements, improving user satisfaction.</a:t>
            </a:r>
          </a:p>
          <a:p>
            <a:pPr algn="just">
              <a:lnSpc>
                <a:spcPct val="120000"/>
              </a:lnSpc>
              <a:buFont typeface="Arial" panose="020B0604020202020204" pitchFamily="34" charset="0"/>
              <a:buChar char="•"/>
            </a:pPr>
            <a:r>
              <a:rPr lang="en-US" sz="2900" dirty="0">
                <a:latin typeface="Times New Roman" panose="02020603050405020304" pitchFamily="18" charset="0"/>
              </a:rPr>
              <a:t>Simplifies report generation, making it easier for administrators to review expenses.</a:t>
            </a:r>
          </a:p>
          <a:p>
            <a:pPr marL="0" indent="0" algn="just">
              <a:lnSpc>
                <a:spcPct val="120000"/>
              </a:lnSpc>
              <a:buNone/>
            </a:pPr>
            <a:r>
              <a:rPr lang="en-US" sz="2900" dirty="0">
                <a:latin typeface="Times New Roman" panose="02020603050405020304" pitchFamily="18" charset="0"/>
              </a:rPr>
              <a:t>      </a:t>
            </a:r>
          </a:p>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 </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a:t>
            </a:r>
            <a:endParaRPr lang="en-IN" dirty="0">
              <a:latin typeface="+mj-lt"/>
            </a:endParaRPr>
          </a:p>
        </p:txBody>
      </p:sp>
      <p:sp>
        <p:nvSpPr>
          <p:cNvPr id="4" name="Rectangle 1">
            <a:extLst>
              <a:ext uri="{FF2B5EF4-FFF2-40B4-BE49-F238E27FC236}">
                <a16:creationId xmlns:a16="http://schemas.microsoft.com/office/drawing/2014/main" id="{D8927C48-E7D4-D461-6CB1-3376BE0DD02C}"/>
              </a:ext>
            </a:extLst>
          </p:cNvPr>
          <p:cNvSpPr>
            <a:spLocks noGrp="1" noChangeArrowheads="1"/>
          </p:cNvSpPr>
          <p:nvPr>
            <p:ph idx="1"/>
          </p:nvPr>
        </p:nvSpPr>
        <p:spPr bwMode="auto">
          <a:xfrm>
            <a:off x="239012" y="806131"/>
            <a:ext cx="8665976"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rPr>
              <a:t>Automation of Repetitive Tasks</a:t>
            </a:r>
            <a:r>
              <a:rPr kumimoji="0" lang="en-US" altLang="en-US" sz="1800" b="0" i="0" u="none" strike="noStrike" cap="none" normalizeH="0" baseline="0" dirty="0">
                <a:ln>
                  <a:noFill/>
                </a:ln>
                <a:solidFill>
                  <a:schemeClr val="tx1"/>
                </a:solidFill>
                <a:effectLst/>
                <a:latin typeface="Times New Roman" panose="02020603050405020304" pitchFamily="18" charset="0"/>
              </a:rPr>
              <a:t>:</a:t>
            </a:r>
            <a:r>
              <a:rPr lang="en-US" altLang="en-US" sz="1800" dirty="0">
                <a:latin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rPr>
              <a:t>Eliminates manual effort in invoice processing, saving            time and resources.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rPr>
              <a:t> Improved Accuracy</a:t>
            </a:r>
            <a:r>
              <a:rPr kumimoji="0" lang="en-US" altLang="en-US" sz="1800" b="0" i="0" u="none" strike="noStrike" cap="none" normalizeH="0" baseline="0" dirty="0">
                <a:ln>
                  <a:noFill/>
                </a:ln>
                <a:solidFill>
                  <a:schemeClr val="tx1"/>
                </a:solidFill>
                <a:effectLst/>
                <a:latin typeface="Times New Roman" panose="02020603050405020304" pitchFamily="18" charset="0"/>
              </a:rPr>
              <a:t>: Reduces errors by automating data extraction and validation, ensuring reliable  results.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rPr>
              <a:t> Compliance with Policies</a:t>
            </a:r>
            <a:r>
              <a:rPr kumimoji="0" lang="en-US" altLang="en-US" sz="1800" b="0" i="0" u="none" strike="noStrike" cap="none" normalizeH="0" baseline="0" dirty="0">
                <a:ln>
                  <a:noFill/>
                </a:ln>
                <a:solidFill>
                  <a:schemeClr val="tx1"/>
                </a:solidFill>
                <a:effectLst/>
                <a:latin typeface="Times New Roman" panose="02020603050405020304" pitchFamily="18" charset="0"/>
              </a:rPr>
              <a:t>: Validates expenses against predefined rules, ensuring adherence to organizational guidelines.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rPr>
              <a:t> Faster Reimbursement</a:t>
            </a:r>
            <a:r>
              <a:rPr kumimoji="0" lang="en-US" altLang="en-US" sz="1800" b="0" i="0" u="none" strike="noStrike" cap="none" normalizeH="0" baseline="0" dirty="0">
                <a:ln>
                  <a:noFill/>
                </a:ln>
                <a:solidFill>
                  <a:schemeClr val="tx1"/>
                </a:solidFill>
                <a:effectLst/>
                <a:latin typeface="Times New Roman" panose="02020603050405020304" pitchFamily="18" charset="0"/>
              </a:rPr>
              <a:t>: Speeds up the processing of invoices and report generation, improving turnaround time.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rPr>
              <a:t> Scalability and Adaptability</a:t>
            </a:r>
            <a:r>
              <a:rPr kumimoji="0" lang="en-US" altLang="en-US" sz="1800" b="0" i="0" u="none" strike="noStrike" cap="none" normalizeH="0" baseline="0" dirty="0">
                <a:ln>
                  <a:noFill/>
                </a:ln>
                <a:solidFill>
                  <a:schemeClr val="tx1"/>
                </a:solidFill>
                <a:effectLst/>
                <a:latin typeface="Times New Roman" panose="02020603050405020304" pitchFamily="18" charset="0"/>
              </a:rPr>
              <a:t>:  Handles large volumes of invoices and supports various formats efficiently.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rPr>
              <a:t> Enhanced Reporting</a:t>
            </a:r>
            <a:r>
              <a:rPr kumimoji="0" lang="en-US" altLang="en-US" sz="1800" b="0" i="0" u="none" strike="noStrike" cap="none" normalizeH="0" baseline="0" dirty="0">
                <a:ln>
                  <a:noFill/>
                </a:ln>
                <a:solidFill>
                  <a:schemeClr val="tx1"/>
                </a:solidFill>
                <a:effectLst/>
                <a:latin typeface="Times New Roman" panose="02020603050405020304" pitchFamily="18" charset="0"/>
              </a:rPr>
              <a:t>: Generates structured, easy-to-review Excel reports for better decision-making and auditing. </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b="1" dirty="0">
                <a:latin typeface="Times New Roman" panose="02020603050405020304" pitchFamily="18" charset="0"/>
              </a:rPr>
              <a:t>Paper 1: "UiPath at Work - Automating the Invoice Process"</a:t>
            </a:r>
            <a:endParaRPr lang="en-US" sz="1800" dirty="0">
              <a:latin typeface="Times New Roman" panose="02020603050405020304" pitchFamily="18" charset="0"/>
            </a:endParaRPr>
          </a:p>
          <a:p>
            <a:pPr algn="just">
              <a:lnSpc>
                <a:spcPct val="150000"/>
              </a:lnSpc>
              <a:buFont typeface="Arial" panose="020B0604020202020204" pitchFamily="34" charset="0"/>
              <a:buChar char="•"/>
            </a:pPr>
            <a:r>
              <a:rPr lang="en-US" sz="1800" b="1" dirty="0">
                <a:latin typeface="Times New Roman" panose="02020603050405020304" pitchFamily="18" charset="0"/>
              </a:rPr>
              <a:t>Advantage</a:t>
            </a:r>
            <a:r>
              <a:rPr lang="en-US" sz="1800" dirty="0">
                <a:latin typeface="Times New Roman" panose="02020603050405020304" pitchFamily="18" charset="0"/>
              </a:rPr>
              <a:t>: Streamlines invoice management by automating repetitive tasks, reducing manual errors.</a:t>
            </a:r>
          </a:p>
          <a:p>
            <a:pPr algn="just">
              <a:lnSpc>
                <a:spcPct val="150000"/>
              </a:lnSpc>
              <a:buFont typeface="Arial" panose="020B0604020202020204" pitchFamily="34" charset="0"/>
              <a:buChar char="•"/>
            </a:pPr>
            <a:r>
              <a:rPr lang="en-US" sz="1800" b="1" dirty="0">
                <a:latin typeface="Times New Roman" panose="02020603050405020304" pitchFamily="18" charset="0"/>
              </a:rPr>
              <a:t>Disadvantage</a:t>
            </a:r>
            <a:r>
              <a:rPr lang="en-US" sz="1800" dirty="0">
                <a:latin typeface="Times New Roman" panose="02020603050405020304" pitchFamily="18" charset="0"/>
              </a:rPr>
              <a:t>: High dependency on OCR performance; errors may occur with poorly scanned documents.</a:t>
            </a:r>
          </a:p>
          <a:p>
            <a:pPr marL="0" indent="0" algn="just">
              <a:lnSpc>
                <a:spcPct val="150000"/>
              </a:lnSpc>
              <a:buNone/>
            </a:pPr>
            <a:r>
              <a:rPr lang="en-US" sz="1800" b="1" dirty="0">
                <a:latin typeface="Times New Roman" panose="02020603050405020304" pitchFamily="18" charset="0"/>
              </a:rPr>
              <a:t>Paper 2: </a:t>
            </a:r>
            <a:r>
              <a:rPr lang="en-US" sz="1800" b="1" i="1" dirty="0">
                <a:latin typeface="Times New Roman" panose="02020603050405020304" pitchFamily="18" charset="0"/>
              </a:rPr>
              <a:t>Expense Tracker</a:t>
            </a:r>
            <a:endParaRPr lang="en-US" sz="1800" dirty="0">
              <a:latin typeface="Times New Roman" panose="02020603050405020304" pitchFamily="18" charset="0"/>
            </a:endParaRPr>
          </a:p>
          <a:p>
            <a:pPr algn="just">
              <a:lnSpc>
                <a:spcPct val="150000"/>
              </a:lnSpc>
              <a:buFont typeface="Arial" panose="020B0604020202020204" pitchFamily="34" charset="0"/>
              <a:buChar char="•"/>
            </a:pPr>
            <a:r>
              <a:rPr lang="en-US" sz="1800" b="1" dirty="0">
                <a:latin typeface="Times New Roman" panose="02020603050405020304" pitchFamily="18" charset="0"/>
              </a:rPr>
              <a:t>Advantage</a:t>
            </a:r>
            <a:r>
              <a:rPr lang="en-US" sz="1800" dirty="0">
                <a:latin typeface="Times New Roman" panose="02020603050405020304" pitchFamily="18" charset="0"/>
              </a:rPr>
              <a:t>: Simplifies expense tracking by automating the categorization and organization of expenditures.</a:t>
            </a:r>
          </a:p>
          <a:p>
            <a:pPr algn="just">
              <a:lnSpc>
                <a:spcPct val="150000"/>
              </a:lnSpc>
              <a:buFont typeface="Arial" panose="020B0604020202020204" pitchFamily="34" charset="0"/>
              <a:buChar char="•"/>
            </a:pPr>
            <a:r>
              <a:rPr lang="en-US" sz="1800" b="1" dirty="0">
                <a:latin typeface="Times New Roman" panose="02020603050405020304" pitchFamily="18" charset="0"/>
              </a:rPr>
              <a:t>Disadvantage</a:t>
            </a:r>
            <a:r>
              <a:rPr lang="en-US" sz="1800" dirty="0">
                <a:latin typeface="Times New Roman" panose="02020603050405020304" pitchFamily="18" charset="0"/>
              </a:rPr>
              <a:t>: Dependency on the accuracy of input data for reliable analysis.</a:t>
            </a:r>
          </a:p>
          <a:p>
            <a:pPr algn="just">
              <a:buFont typeface="Arial" panose="020B0604020202020204" pitchFamily="34" charset="0"/>
              <a:buChar char="•"/>
            </a:pPr>
            <a:endParaRPr lang="en-US" dirty="0"/>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a:xfrm>
            <a:off x="190500" y="990600"/>
            <a:ext cx="8763000" cy="5334000"/>
          </a:xfrm>
        </p:spPr>
        <p:txBody>
          <a:bodyPr>
            <a:normAutofit/>
          </a:bodyPr>
          <a:lstStyle/>
          <a:p>
            <a:pPr marL="0" indent="0" algn="just">
              <a:lnSpc>
                <a:spcPct val="150000"/>
              </a:lnSpc>
              <a:buNone/>
            </a:pPr>
            <a:r>
              <a:rPr lang="en-US" sz="1900" dirty="0">
                <a:latin typeface="Times New Roman" panose="02020603050405020304" pitchFamily="18" charset="0"/>
              </a:rPr>
              <a:t>The bot aims to streamline the reimbursement process by reducing manual intervention, minimizing errors, and ensuring faster, more efficient handling of invoices. Using OCR technology, it extracts expense details such as accommodation, travel, and food from invoice PDFs. The extracted data is then validated against predefined terms and conditions to ensure compliance and accuracy. Once validated, the data is organized into a structured Excel report, making it easier for administrators to review and approve reimbursements. This approach enhances efficiency, scalability, and accuracy, enabling organizations to handle workflows seamlessly, regardless of invoice complexity or volume. Additionally, the bot can adapt to changing requirements, ensuring long-term usability. It also enables businesses to save significant time and resources by automating repetitive and error-prone tasks.</a:t>
            </a:r>
          </a:p>
          <a:p>
            <a:pPr>
              <a:buFont typeface="+mj-lt"/>
              <a:buAutoNum type="arabicPeriod"/>
            </a:pPr>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9" name="Content Placeholder 8">
            <a:extLst>
              <a:ext uri="{FF2B5EF4-FFF2-40B4-BE49-F238E27FC236}">
                <a16:creationId xmlns:a16="http://schemas.microsoft.com/office/drawing/2014/main" id="{97694F9F-7F57-9589-F2D1-6CF60674EAB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223628" y="990600"/>
            <a:ext cx="6444716" cy="5334000"/>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a:bodyPr>
          <a:lstStyle/>
          <a:p>
            <a:pPr algn="just">
              <a:lnSpc>
                <a:spcPct val="100000"/>
              </a:lnSpc>
            </a:pPr>
            <a:r>
              <a:rPr lang="en-US" sz="1800" b="1" dirty="0">
                <a:latin typeface="Times New Roman" panose="02020603050405020304" pitchFamily="18" charset="0"/>
              </a:rPr>
              <a:t>Hardware Requirements:</a:t>
            </a:r>
          </a:p>
          <a:p>
            <a:pPr algn="just">
              <a:lnSpc>
                <a:spcPct val="100000"/>
              </a:lnSpc>
              <a:buFont typeface="+mj-lt"/>
              <a:buAutoNum type="arabicPeriod"/>
            </a:pPr>
            <a:r>
              <a:rPr lang="en-US" sz="1800" b="1" dirty="0">
                <a:latin typeface="Times New Roman" panose="02020603050405020304" pitchFamily="18" charset="0"/>
              </a:rPr>
              <a:t>Processor</a:t>
            </a:r>
            <a:r>
              <a:rPr lang="en-US" sz="1800" dirty="0">
                <a:latin typeface="Times New Roman" panose="02020603050405020304" pitchFamily="18" charset="0"/>
              </a:rPr>
              <a:t>: 2.0 GHz or higher .</a:t>
            </a:r>
          </a:p>
          <a:p>
            <a:pPr algn="just">
              <a:lnSpc>
                <a:spcPct val="100000"/>
              </a:lnSpc>
              <a:buFont typeface="+mj-lt"/>
              <a:buAutoNum type="arabicPeriod"/>
            </a:pPr>
            <a:r>
              <a:rPr lang="en-US" sz="1800" b="1" dirty="0">
                <a:latin typeface="Times New Roman" panose="02020603050405020304" pitchFamily="18" charset="0"/>
              </a:rPr>
              <a:t>RAM</a:t>
            </a:r>
            <a:r>
              <a:rPr lang="en-US" sz="1800" dirty="0">
                <a:latin typeface="Times New Roman" panose="02020603050405020304" pitchFamily="18" charset="0"/>
              </a:rPr>
              <a:t>: 8 GB or more for handling multiple invoices concurrently.</a:t>
            </a:r>
          </a:p>
          <a:p>
            <a:pPr algn="just">
              <a:lnSpc>
                <a:spcPct val="100000"/>
              </a:lnSpc>
              <a:buFont typeface="+mj-lt"/>
              <a:buAutoNum type="arabicPeriod"/>
            </a:pPr>
            <a:r>
              <a:rPr lang="en-US" sz="1800" b="1" dirty="0">
                <a:latin typeface="Times New Roman" panose="02020603050405020304" pitchFamily="18" charset="0"/>
              </a:rPr>
              <a:t>Storage</a:t>
            </a:r>
            <a:r>
              <a:rPr lang="en-US" sz="1800" dirty="0">
                <a:latin typeface="Times New Roman" panose="02020603050405020304" pitchFamily="18" charset="0"/>
              </a:rPr>
              <a:t>: At least 10 GB </a:t>
            </a:r>
          </a:p>
          <a:p>
            <a:pPr algn="just">
              <a:lnSpc>
                <a:spcPct val="100000"/>
              </a:lnSpc>
              <a:buFont typeface="+mj-lt"/>
              <a:buAutoNum type="arabicPeriod"/>
            </a:pPr>
            <a:r>
              <a:rPr lang="en-US" sz="1800" b="1" dirty="0">
                <a:latin typeface="Times New Roman" panose="02020603050405020304" pitchFamily="18" charset="0"/>
              </a:rPr>
              <a:t>Network</a:t>
            </a:r>
            <a:r>
              <a:rPr lang="en-US" sz="1800" dirty="0">
                <a:latin typeface="Times New Roman" panose="02020603050405020304" pitchFamily="18" charset="0"/>
              </a:rPr>
              <a:t>: Stable internet connection (for cloud-based OCR tools, updates, and file transfers).</a:t>
            </a:r>
          </a:p>
          <a:p>
            <a:pPr algn="just">
              <a:lnSpc>
                <a:spcPct val="100000"/>
              </a:lnSpc>
            </a:pPr>
            <a:endParaRPr lang="en-US" sz="1800" b="1" dirty="0">
              <a:latin typeface="Times New Roman" panose="02020603050405020304" pitchFamily="18" charset="0"/>
            </a:endParaRPr>
          </a:p>
          <a:p>
            <a:pPr algn="just">
              <a:lnSpc>
                <a:spcPct val="100000"/>
              </a:lnSpc>
            </a:pPr>
            <a:r>
              <a:rPr lang="en-US" sz="1800" b="1" dirty="0">
                <a:latin typeface="Times New Roman" panose="02020603050405020304" pitchFamily="18" charset="0"/>
              </a:rPr>
              <a:t>Software Requirements:</a:t>
            </a:r>
          </a:p>
          <a:p>
            <a:pPr algn="just">
              <a:lnSpc>
                <a:spcPct val="100000"/>
              </a:lnSpc>
              <a:buFont typeface="+mj-lt"/>
              <a:buAutoNum type="arabicPeriod"/>
            </a:pPr>
            <a:r>
              <a:rPr lang="en-US" sz="1800" b="1" dirty="0">
                <a:latin typeface="Times New Roman" panose="02020603050405020304" pitchFamily="18" charset="0"/>
              </a:rPr>
              <a:t>Operating System</a:t>
            </a:r>
            <a:r>
              <a:rPr lang="en-US" sz="1800" dirty="0">
                <a:latin typeface="Times New Roman" panose="02020603050405020304" pitchFamily="18" charset="0"/>
              </a:rPr>
              <a:t>: Windows 7 or higher (64-bit recommended).</a:t>
            </a:r>
          </a:p>
          <a:p>
            <a:pPr algn="just">
              <a:lnSpc>
                <a:spcPct val="100000"/>
              </a:lnSpc>
              <a:buFont typeface="+mj-lt"/>
              <a:buAutoNum type="arabicPeriod"/>
            </a:pPr>
            <a:r>
              <a:rPr lang="en-US" sz="1800" b="1" dirty="0">
                <a:latin typeface="Times New Roman" panose="02020603050405020304" pitchFamily="18" charset="0"/>
              </a:rPr>
              <a:t>UiPath Studio</a:t>
            </a:r>
            <a:r>
              <a:rPr lang="en-US" sz="1800" dirty="0">
                <a:latin typeface="Times New Roman" panose="02020603050405020304" pitchFamily="18" charset="0"/>
              </a:rPr>
              <a:t>: Latest stable version of UiPath Studio for developing, testing, and running workflows.</a:t>
            </a:r>
          </a:p>
          <a:p>
            <a:pPr algn="just">
              <a:lnSpc>
                <a:spcPct val="100000"/>
              </a:lnSpc>
              <a:buFont typeface="+mj-lt"/>
              <a:buAutoNum type="arabicPeriod"/>
            </a:pPr>
            <a:r>
              <a:rPr lang="en-US" sz="1800" b="1" dirty="0">
                <a:latin typeface="Times New Roman" panose="02020603050405020304" pitchFamily="18" charset="0"/>
              </a:rPr>
              <a:t>OCR Tools</a:t>
            </a:r>
            <a:r>
              <a:rPr lang="en-US" sz="1800" dirty="0">
                <a:latin typeface="Times New Roman" panose="02020603050405020304" pitchFamily="18" charset="0"/>
              </a:rPr>
              <a:t>: Integration with OCR tools like Google Cloud Vision, ABBYY OCR, or UiPath's native OCR engine for text extraction.</a:t>
            </a:r>
          </a:p>
          <a:p>
            <a:pPr algn="just">
              <a:lnSpc>
                <a:spcPct val="100000"/>
              </a:lnSpc>
              <a:buFont typeface="+mj-lt"/>
              <a:buAutoNum type="arabicPeriod"/>
            </a:pPr>
            <a:r>
              <a:rPr lang="en-US" sz="1800" b="1" dirty="0">
                <a:latin typeface="Times New Roman" panose="02020603050405020304" pitchFamily="18" charset="0"/>
              </a:rPr>
              <a:t>Microsoft Excel</a:t>
            </a:r>
            <a:r>
              <a:rPr lang="en-US" sz="1800" dirty="0">
                <a:latin typeface="Times New Roman" panose="02020603050405020304" pitchFamily="18" charset="0"/>
              </a:rPr>
              <a:t>: Excel 2016 or later for generating and formatting reports via UiPath Excel Activities.</a:t>
            </a:r>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pic>
        <p:nvPicPr>
          <p:cNvPr id="5" name="Content Placeholder 4">
            <a:extLst>
              <a:ext uri="{FF2B5EF4-FFF2-40B4-BE49-F238E27FC236}">
                <a16:creationId xmlns:a16="http://schemas.microsoft.com/office/drawing/2014/main" id="{405B46E7-441F-AD80-4BD0-DEA14A2E15B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23528" y="990600"/>
            <a:ext cx="3060340" cy="5334000"/>
          </a:xfrm>
        </p:spPr>
      </p:pic>
      <p:sp>
        <p:nvSpPr>
          <p:cNvPr id="6" name="TextBox 5">
            <a:extLst>
              <a:ext uri="{FF2B5EF4-FFF2-40B4-BE49-F238E27FC236}">
                <a16:creationId xmlns:a16="http://schemas.microsoft.com/office/drawing/2014/main" id="{0680F3EC-CFC1-5AF4-3D2D-8B06426EE1A1}"/>
              </a:ext>
            </a:extLst>
          </p:cNvPr>
          <p:cNvSpPr txBox="1"/>
          <p:nvPr/>
        </p:nvSpPr>
        <p:spPr>
          <a:xfrm>
            <a:off x="3815916" y="1232756"/>
            <a:ext cx="5004556" cy="4613058"/>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Model1: Extract PDF Text</a:t>
            </a:r>
            <a:r>
              <a:rPr lang="en-US" dirty="0">
                <a:latin typeface="Times New Roman" panose="02020603050405020304" pitchFamily="18" charset="0"/>
                <a:cs typeface="Times New Roman" panose="02020603050405020304" pitchFamily="18" charset="0"/>
              </a:rPr>
              <a:t>: This module uses the OCR engine to extract text from scanned or image-based invoices. It converts the PDF content into raw text, enabling further processing. It's essential for working with non-searchable PDF invoices.</a:t>
            </a:r>
          </a:p>
          <a:p>
            <a:pPr algn="just">
              <a:lnSpc>
                <a:spcPct val="150000"/>
              </a:lnSpc>
            </a:pPr>
            <a:r>
              <a:rPr lang="en-US" b="1" dirty="0">
                <a:latin typeface="Times New Roman" panose="02020603050405020304" pitchFamily="18" charset="0"/>
                <a:cs typeface="Times New Roman" panose="02020603050405020304" pitchFamily="18" charset="0"/>
              </a:rPr>
              <a:t>Model2: Generate Data Table from Text</a:t>
            </a:r>
            <a:r>
              <a:rPr lang="en-US" dirty="0">
                <a:latin typeface="Times New Roman" panose="02020603050405020304" pitchFamily="18" charset="0"/>
                <a:cs typeface="Times New Roman" panose="02020603050405020304" pitchFamily="18" charset="0"/>
              </a:rPr>
              <a:t>: This activity converts the extracted text into a structured data table format. It categorizes the data (like accommodation, travel, and food expenses) to make it easier to store and analyze in subsequent steps (e.g., in Excel).</a:t>
            </a:r>
            <a:endParaRPr lang="en-IN"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pic>
        <p:nvPicPr>
          <p:cNvPr id="5" name="Content Placeholder 4">
            <a:extLst>
              <a:ext uri="{FF2B5EF4-FFF2-40B4-BE49-F238E27FC236}">
                <a16:creationId xmlns:a16="http://schemas.microsoft.com/office/drawing/2014/main" id="{8C4CEE83-4D62-4644-E102-754ACDE8AB0A}"/>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699792" y="990600"/>
            <a:ext cx="3240360" cy="5334000"/>
          </a:xfr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a:bodyPr>
          <a:lstStyle/>
          <a:p>
            <a:pPr algn="just">
              <a:lnSpc>
                <a:spcPct val="100000"/>
              </a:lnSpc>
            </a:pPr>
            <a:r>
              <a:rPr lang="en-US" sz="1900" b="1" dirty="0">
                <a:latin typeface="Times New Roman" panose="02020603050405020304" pitchFamily="18" charset="0"/>
              </a:rPr>
              <a:t>Main Process</a:t>
            </a:r>
          </a:p>
          <a:p>
            <a:pPr algn="just">
              <a:lnSpc>
                <a:spcPct val="100000"/>
              </a:lnSpc>
              <a:buFont typeface="+mj-lt"/>
              <a:buAutoNum type="arabicPeriod"/>
            </a:pPr>
            <a:r>
              <a:rPr lang="en-US" sz="1900" b="1" dirty="0">
                <a:latin typeface="Times New Roman" panose="02020603050405020304" pitchFamily="18" charset="0"/>
              </a:rPr>
              <a:t>Invoice Upload</a:t>
            </a:r>
            <a:r>
              <a:rPr lang="en-US" sz="1900" dirty="0">
                <a:latin typeface="Times New Roman" panose="02020603050405020304" pitchFamily="18" charset="0"/>
              </a:rPr>
              <a:t>: User uploads invoice PDFs to the system, triggering the processing flow.</a:t>
            </a:r>
          </a:p>
          <a:p>
            <a:pPr algn="just">
              <a:lnSpc>
                <a:spcPct val="100000"/>
              </a:lnSpc>
              <a:buFont typeface="+mj-lt"/>
              <a:buAutoNum type="arabicPeriod"/>
            </a:pPr>
            <a:r>
              <a:rPr lang="en-US" sz="1900" b="1" dirty="0">
                <a:latin typeface="Times New Roman" panose="02020603050405020304" pitchFamily="18" charset="0"/>
              </a:rPr>
              <a:t>OCR Processing</a:t>
            </a:r>
            <a:r>
              <a:rPr lang="en-US" sz="1900" dirty="0">
                <a:latin typeface="Times New Roman" panose="02020603050405020304" pitchFamily="18" charset="0"/>
              </a:rPr>
              <a:t>: OCR technology extracts readable text from scanned or image-based invoices.</a:t>
            </a:r>
          </a:p>
          <a:p>
            <a:pPr algn="just">
              <a:lnSpc>
                <a:spcPct val="100000"/>
              </a:lnSpc>
              <a:buFont typeface="+mj-lt"/>
              <a:buAutoNum type="arabicPeriod"/>
            </a:pPr>
            <a:r>
              <a:rPr lang="en-US" sz="1900" b="1" dirty="0">
                <a:latin typeface="Times New Roman" panose="02020603050405020304" pitchFamily="18" charset="0"/>
              </a:rPr>
              <a:t>Data Extraction</a:t>
            </a:r>
            <a:r>
              <a:rPr lang="en-US" sz="1900" dirty="0">
                <a:latin typeface="Times New Roman" panose="02020603050405020304" pitchFamily="18" charset="0"/>
              </a:rPr>
              <a:t>: Extracts key expense data (e.g., accommodation, travel, food) from the invoice text.</a:t>
            </a:r>
          </a:p>
          <a:p>
            <a:pPr algn="just">
              <a:lnSpc>
                <a:spcPct val="100000"/>
              </a:lnSpc>
              <a:buFont typeface="+mj-lt"/>
              <a:buAutoNum type="arabicPeriod"/>
            </a:pPr>
            <a:r>
              <a:rPr lang="en-US" sz="1900" b="1" dirty="0">
                <a:latin typeface="Times New Roman" panose="02020603050405020304" pitchFamily="18" charset="0"/>
              </a:rPr>
              <a:t>Validation</a:t>
            </a:r>
            <a:r>
              <a:rPr lang="en-US" sz="1900" dirty="0">
                <a:latin typeface="Times New Roman" panose="02020603050405020304" pitchFamily="18" charset="0"/>
              </a:rPr>
              <a:t>: Validates the extracted data against predefined reimbursement policies for compliance.</a:t>
            </a:r>
          </a:p>
          <a:p>
            <a:pPr algn="just">
              <a:lnSpc>
                <a:spcPct val="100000"/>
              </a:lnSpc>
              <a:buFont typeface="+mj-lt"/>
              <a:buAutoNum type="arabicPeriod"/>
            </a:pPr>
            <a:r>
              <a:rPr lang="en-US" sz="1900" b="1" dirty="0">
                <a:latin typeface="Times New Roman" panose="02020603050405020304" pitchFamily="18" charset="0"/>
              </a:rPr>
              <a:t>Report Generation</a:t>
            </a:r>
            <a:r>
              <a:rPr lang="en-US" sz="1900" dirty="0">
                <a:latin typeface="Times New Roman" panose="02020603050405020304" pitchFamily="18" charset="0"/>
              </a:rPr>
              <a:t>: Generates a structured Excel report with validated expense data.</a:t>
            </a:r>
          </a:p>
          <a:p>
            <a:pPr algn="just">
              <a:lnSpc>
                <a:spcPct val="100000"/>
              </a:lnSpc>
            </a:pPr>
            <a:r>
              <a:rPr lang="en-US" sz="1900" b="1" dirty="0">
                <a:latin typeface="Times New Roman" panose="02020603050405020304" pitchFamily="18" charset="0"/>
              </a:rPr>
              <a:t>Sub-Processes</a:t>
            </a:r>
          </a:p>
          <a:p>
            <a:pPr algn="just">
              <a:lnSpc>
                <a:spcPct val="100000"/>
              </a:lnSpc>
              <a:buFont typeface="+mj-lt"/>
              <a:buAutoNum type="arabicPeriod"/>
            </a:pPr>
            <a:r>
              <a:rPr lang="en-US" sz="1900" b="1" dirty="0">
                <a:latin typeface="Times New Roman" panose="02020603050405020304" pitchFamily="18" charset="0"/>
              </a:rPr>
              <a:t>File Management</a:t>
            </a:r>
            <a:r>
              <a:rPr lang="en-US" sz="1900" dirty="0">
                <a:latin typeface="Times New Roman" panose="02020603050405020304" pitchFamily="18" charset="0"/>
              </a:rPr>
              <a:t>: Moves processed invoices to the "Processed Folder" and stores the generated report.</a:t>
            </a:r>
          </a:p>
          <a:p>
            <a:pPr algn="just">
              <a:lnSpc>
                <a:spcPct val="100000"/>
              </a:lnSpc>
              <a:buFont typeface="+mj-lt"/>
              <a:buAutoNum type="arabicPeriod"/>
            </a:pPr>
            <a:r>
              <a:rPr lang="en-US" sz="1900" b="1" dirty="0">
                <a:latin typeface="Times New Roman" panose="02020603050405020304" pitchFamily="18" charset="0"/>
              </a:rPr>
              <a:t>Notification Handling</a:t>
            </a:r>
            <a:r>
              <a:rPr lang="en-US" sz="1900" dirty="0">
                <a:latin typeface="Times New Roman" panose="02020603050405020304" pitchFamily="18" charset="0"/>
              </a:rPr>
              <a:t>: Sends notifications to the user upon completion of invoice processing and report generation</a:t>
            </a:r>
            <a:r>
              <a:rPr lang="en-US" sz="1900" dirty="0"/>
              <a:t>.</a:t>
            </a:r>
          </a:p>
          <a:p>
            <a:pPr marL="0" indent="0">
              <a:buNone/>
            </a:pPr>
            <a:endParaRPr lang="en-US" dirty="0"/>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pic>
        <p:nvPicPr>
          <p:cNvPr id="5" name="Content Placeholder 4">
            <a:extLst>
              <a:ext uri="{FF2B5EF4-FFF2-40B4-BE49-F238E27FC236}">
                <a16:creationId xmlns:a16="http://schemas.microsoft.com/office/drawing/2014/main" id="{C34C3C11-C333-479F-9E84-F83E9916C267}"/>
              </a:ext>
            </a:extLst>
          </p:cNvPr>
          <p:cNvPicPr>
            <a:picLocks noGrp="1" noChangeAspect="1"/>
          </p:cNvPicPr>
          <p:nvPr>
            <p:ph idx="1"/>
          </p:nvPr>
        </p:nvPicPr>
        <p:blipFill>
          <a:blip r:embed="rId4"/>
          <a:stretch>
            <a:fillRect/>
          </a:stretch>
        </p:blipFill>
        <p:spPr>
          <a:xfrm>
            <a:off x="5256076" y="404664"/>
            <a:ext cx="3348372" cy="5395664"/>
          </a:xfrm>
        </p:spPr>
      </p:pic>
      <p:sp>
        <p:nvSpPr>
          <p:cNvPr id="6" name="TextBox 5">
            <a:extLst>
              <a:ext uri="{FF2B5EF4-FFF2-40B4-BE49-F238E27FC236}">
                <a16:creationId xmlns:a16="http://schemas.microsoft.com/office/drawing/2014/main" id="{321C576A-EC31-DD9A-29D9-74D317C4B3CA}"/>
              </a:ext>
            </a:extLst>
          </p:cNvPr>
          <p:cNvSpPr txBox="1"/>
          <p:nvPr/>
        </p:nvSpPr>
        <p:spPr>
          <a:xfrm>
            <a:off x="419032" y="1132171"/>
            <a:ext cx="4608512" cy="4243726"/>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Model1 : Extract the key elements</a:t>
            </a:r>
          </a:p>
          <a:p>
            <a:pPr algn="just">
              <a:lnSpc>
                <a:spcPct val="150000"/>
              </a:lnSpc>
            </a:pPr>
            <a:r>
              <a:rPr lang="en-US" dirty="0">
                <a:latin typeface="Times New Roman" panose="02020603050405020304" pitchFamily="18" charset="0"/>
                <a:cs typeface="Times New Roman" panose="02020603050405020304" pitchFamily="18" charset="0"/>
              </a:rPr>
              <a:t>It utilizes the </a:t>
            </a:r>
            <a:r>
              <a:rPr lang="en-US" b="1" dirty="0">
                <a:latin typeface="Times New Roman" panose="02020603050405020304" pitchFamily="18" charset="0"/>
                <a:cs typeface="Times New Roman" panose="02020603050405020304" pitchFamily="18" charset="0"/>
              </a:rPr>
              <a:t>Extract PDF Activity</a:t>
            </a:r>
            <a:r>
              <a:rPr lang="en-US" dirty="0">
                <a:latin typeface="Times New Roman" panose="02020603050405020304" pitchFamily="18" charset="0"/>
                <a:cs typeface="Times New Roman" panose="02020603050405020304" pitchFamily="18" charset="0"/>
              </a:rPr>
              <a:t> to extract the raw text from the input PDF. The </a:t>
            </a:r>
            <a:r>
              <a:rPr lang="en-US" b="1" dirty="0">
                <a:latin typeface="Times New Roman" panose="02020603050405020304" pitchFamily="18" charset="0"/>
                <a:cs typeface="Times New Roman" panose="02020603050405020304" pitchFamily="18" charset="0"/>
              </a:rPr>
              <a:t>Text to Right or Left Activity</a:t>
            </a:r>
            <a:r>
              <a:rPr lang="en-US" dirty="0">
                <a:latin typeface="Times New Roman" panose="02020603050405020304" pitchFamily="18" charset="0"/>
                <a:cs typeface="Times New Roman" panose="02020603050405020304" pitchFamily="18" charset="0"/>
              </a:rPr>
              <a:t> is then employed to identify and extract key elements, such as accommodation, travel, and food expenses, from the text based on their position relative to predefined markers. This method ensures efficient and accurate data extraction for further processing.</a:t>
            </a:r>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03AE8-6F4F-B654-49D1-395E92436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835FA-666E-D9A4-6061-52B7A2468094}"/>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6" name="TextBox 5">
            <a:extLst>
              <a:ext uri="{FF2B5EF4-FFF2-40B4-BE49-F238E27FC236}">
                <a16:creationId xmlns:a16="http://schemas.microsoft.com/office/drawing/2014/main" id="{A58F5E3C-0D2F-FF4C-12B3-019E3DF6B37D}"/>
              </a:ext>
            </a:extLst>
          </p:cNvPr>
          <p:cNvSpPr txBox="1"/>
          <p:nvPr/>
        </p:nvSpPr>
        <p:spPr>
          <a:xfrm>
            <a:off x="381431" y="1448780"/>
            <a:ext cx="4873048" cy="3366563"/>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Model 2 : Generate the excel sheet from the data table</a:t>
            </a:r>
          </a:p>
          <a:p>
            <a:pPr algn="just">
              <a:lnSpc>
                <a:spcPct val="150000"/>
              </a:lnSpc>
            </a:pPr>
            <a:r>
              <a:rPr lang="en-US" dirty="0">
                <a:latin typeface="Times New Roman" panose="02020603050405020304" pitchFamily="18" charset="0"/>
                <a:cs typeface="Times New Roman" panose="02020603050405020304" pitchFamily="18" charset="0"/>
              </a:rPr>
              <a:t>This model uses the </a:t>
            </a:r>
            <a:r>
              <a:rPr lang="en-US" b="1" dirty="0">
                <a:latin typeface="Times New Roman" panose="02020603050405020304" pitchFamily="18" charset="0"/>
                <a:cs typeface="Times New Roman" panose="02020603050405020304" pitchFamily="18" charset="0"/>
              </a:rPr>
              <a:t>Build Data Table Activity</a:t>
            </a:r>
            <a:r>
              <a:rPr lang="en-US" dirty="0">
                <a:latin typeface="Times New Roman" panose="02020603050405020304" pitchFamily="18" charset="0"/>
                <a:cs typeface="Times New Roman" panose="02020603050405020304" pitchFamily="18" charset="0"/>
              </a:rPr>
              <a:t> to structure the extracted data into a table format, making it easier to manage. The </a:t>
            </a:r>
            <a:r>
              <a:rPr lang="en-US" b="1" dirty="0">
                <a:latin typeface="Times New Roman" panose="02020603050405020304" pitchFamily="18" charset="0"/>
                <a:cs typeface="Times New Roman" panose="02020603050405020304" pitchFamily="18" charset="0"/>
              </a:rPr>
              <a:t>Use Excel Sheet Activity</a:t>
            </a:r>
            <a:r>
              <a:rPr lang="en-US" dirty="0">
                <a:latin typeface="Times New Roman" panose="02020603050405020304" pitchFamily="18" charset="0"/>
                <a:cs typeface="Times New Roman" panose="02020603050405020304" pitchFamily="18" charset="0"/>
              </a:rPr>
              <a:t> is then applied to write the organized data into a final Excel report, ensuring the data is properly formatted .</a:t>
            </a:r>
          </a:p>
        </p:txBody>
      </p:sp>
      <p:pic>
        <p:nvPicPr>
          <p:cNvPr id="11" name="Picture 10">
            <a:extLst>
              <a:ext uri="{FF2B5EF4-FFF2-40B4-BE49-F238E27FC236}">
                <a16:creationId xmlns:a16="http://schemas.microsoft.com/office/drawing/2014/main" id="{C08F22B5-E53C-C729-1E00-9E50C5368334}"/>
              </a:ext>
            </a:extLst>
          </p:cNvPr>
          <p:cNvPicPr>
            <a:picLocks noChangeAspect="1"/>
          </p:cNvPicPr>
          <p:nvPr/>
        </p:nvPicPr>
        <p:blipFill>
          <a:blip r:embed="rId4"/>
          <a:stretch>
            <a:fillRect/>
          </a:stretch>
        </p:blipFill>
        <p:spPr>
          <a:xfrm>
            <a:off x="5436096" y="1"/>
            <a:ext cx="3581060" cy="6489340"/>
          </a:xfrm>
          <a:prstGeom prst="rect">
            <a:avLst/>
          </a:prstGeom>
        </p:spPr>
      </p:pic>
    </p:spTree>
    <p:custDataLst>
      <p:tags r:id="rId1"/>
    </p:custDataLst>
    <p:extLst>
      <p:ext uri="{BB962C8B-B14F-4D97-AF65-F5344CB8AC3E}">
        <p14:creationId xmlns:p14="http://schemas.microsoft.com/office/powerpoint/2010/main" val="395907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B40D-F139-73EF-F3EF-68E50B3D3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BCF1D-22AF-7664-3889-DD48D60045E6}"/>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4" name="Picture 3">
            <a:extLst>
              <a:ext uri="{FF2B5EF4-FFF2-40B4-BE49-F238E27FC236}">
                <a16:creationId xmlns:a16="http://schemas.microsoft.com/office/drawing/2014/main" id="{03B7A5AE-D88A-5860-7A01-61703439C114}"/>
              </a:ext>
            </a:extLst>
          </p:cNvPr>
          <p:cNvPicPr>
            <a:picLocks noChangeAspect="1"/>
          </p:cNvPicPr>
          <p:nvPr/>
        </p:nvPicPr>
        <p:blipFill>
          <a:blip r:embed="rId4"/>
          <a:stretch>
            <a:fillRect/>
          </a:stretch>
        </p:blipFill>
        <p:spPr>
          <a:xfrm>
            <a:off x="287523" y="914400"/>
            <a:ext cx="3780421" cy="5502932"/>
          </a:xfrm>
          <a:prstGeom prst="rect">
            <a:avLst/>
          </a:prstGeom>
        </p:spPr>
      </p:pic>
      <p:pic>
        <p:nvPicPr>
          <p:cNvPr id="7" name="Picture 6">
            <a:extLst>
              <a:ext uri="{FF2B5EF4-FFF2-40B4-BE49-F238E27FC236}">
                <a16:creationId xmlns:a16="http://schemas.microsoft.com/office/drawing/2014/main" id="{38EA33C7-A4C3-01CB-F759-2EA7822D5316}"/>
              </a:ext>
            </a:extLst>
          </p:cNvPr>
          <p:cNvPicPr>
            <a:picLocks noChangeAspect="1"/>
          </p:cNvPicPr>
          <p:nvPr/>
        </p:nvPicPr>
        <p:blipFill>
          <a:blip r:embed="rId5"/>
          <a:stretch>
            <a:fillRect/>
          </a:stretch>
        </p:blipFill>
        <p:spPr>
          <a:xfrm>
            <a:off x="4968044" y="914400"/>
            <a:ext cx="3528392" cy="5379081"/>
          </a:xfrm>
          <a:prstGeom prst="rect">
            <a:avLst/>
          </a:prstGeom>
        </p:spPr>
      </p:pic>
    </p:spTree>
    <p:custDataLst>
      <p:tags r:id="rId1"/>
    </p:custDataLst>
    <p:extLst>
      <p:ext uri="{BB962C8B-B14F-4D97-AF65-F5344CB8AC3E}">
        <p14:creationId xmlns:p14="http://schemas.microsoft.com/office/powerpoint/2010/main" val="2015122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DCB15-FC60-D1CB-C7B4-D3B17C86D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40C98-67A0-1C36-0821-65AB63C97283}"/>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5" name="Picture 4">
            <a:extLst>
              <a:ext uri="{FF2B5EF4-FFF2-40B4-BE49-F238E27FC236}">
                <a16:creationId xmlns:a16="http://schemas.microsoft.com/office/drawing/2014/main" id="{5D845AF7-0BC3-6481-D195-EF929439978C}"/>
              </a:ext>
            </a:extLst>
          </p:cNvPr>
          <p:cNvPicPr>
            <a:picLocks noChangeAspect="1"/>
          </p:cNvPicPr>
          <p:nvPr/>
        </p:nvPicPr>
        <p:blipFill>
          <a:blip r:embed="rId4"/>
          <a:stretch>
            <a:fillRect/>
          </a:stretch>
        </p:blipFill>
        <p:spPr>
          <a:xfrm>
            <a:off x="1979712" y="1268760"/>
            <a:ext cx="4068452" cy="4899059"/>
          </a:xfrm>
          <a:prstGeom prst="rect">
            <a:avLst/>
          </a:prstGeom>
        </p:spPr>
      </p:pic>
    </p:spTree>
    <p:custDataLst>
      <p:tags r:id="rId1"/>
    </p:custDataLst>
    <p:extLst>
      <p:ext uri="{BB962C8B-B14F-4D97-AF65-F5344CB8AC3E}">
        <p14:creationId xmlns:p14="http://schemas.microsoft.com/office/powerpoint/2010/main" val="67952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dirty="0">
                <a:latin typeface="Times New Roman" panose="02020603050405020304" pitchFamily="18" charset="0"/>
              </a:rPr>
              <a:t>The testing phase ensures the bot's functionality by verifying accurate data extraction, proper validation, and correct Excel report generation. It also ensures that the bot handles different invoice formats and flags errors, confirming the system's reliability and readiness for deployment.</a:t>
            </a:r>
          </a:p>
        </p:txBody>
      </p:sp>
      <p:pic>
        <p:nvPicPr>
          <p:cNvPr id="7" name="Picture 6">
            <a:extLst>
              <a:ext uri="{FF2B5EF4-FFF2-40B4-BE49-F238E27FC236}">
                <a16:creationId xmlns:a16="http://schemas.microsoft.com/office/drawing/2014/main" id="{6FBC6610-DF17-A869-5495-19A561C2BDCD}"/>
              </a:ext>
            </a:extLst>
          </p:cNvPr>
          <p:cNvPicPr>
            <a:picLocks noChangeAspect="1"/>
          </p:cNvPicPr>
          <p:nvPr/>
        </p:nvPicPr>
        <p:blipFill>
          <a:blip r:embed="rId4"/>
          <a:stretch>
            <a:fillRect/>
          </a:stretch>
        </p:blipFill>
        <p:spPr>
          <a:xfrm>
            <a:off x="647564" y="2780928"/>
            <a:ext cx="3312368" cy="3282233"/>
          </a:xfrm>
          <a:prstGeom prst="rect">
            <a:avLst/>
          </a:prstGeom>
        </p:spPr>
      </p:pic>
      <p:pic>
        <p:nvPicPr>
          <p:cNvPr id="9" name="Picture 8">
            <a:extLst>
              <a:ext uri="{FF2B5EF4-FFF2-40B4-BE49-F238E27FC236}">
                <a16:creationId xmlns:a16="http://schemas.microsoft.com/office/drawing/2014/main" id="{BADE05B2-D5BB-793D-992D-CC299B00CFDB}"/>
              </a:ext>
            </a:extLst>
          </p:cNvPr>
          <p:cNvPicPr>
            <a:picLocks noChangeAspect="1"/>
          </p:cNvPicPr>
          <p:nvPr/>
        </p:nvPicPr>
        <p:blipFill>
          <a:blip r:embed="rId5"/>
          <a:stretch>
            <a:fillRect/>
          </a:stretch>
        </p:blipFill>
        <p:spPr>
          <a:xfrm>
            <a:off x="4681599" y="2780928"/>
            <a:ext cx="4019553" cy="3389131"/>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dirty="0">
                <a:latin typeface="Times New Roman" panose="02020603050405020304" pitchFamily="18" charset="0"/>
              </a:rPr>
              <a:t>The "Reimbursement Bot" automates the invoice processing workflow, addressing inefficiencies in manual reimbursement tasks. By utilizing UiPath and OCR technologies, it extracts, validates, and organizes expense data with accuracy and compliance. The bot generates structured Excel reports, reducing manual effort, minimizing errors, and accelerating processing. This scalable and adaptable solution enhances efficiency, transparency, and cost-effectiveness, modernizing expense management for organizations.</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normAutofit/>
          </a:bodyPr>
          <a:lstStyle/>
          <a:p>
            <a:pPr algn="just">
              <a:lnSpc>
                <a:spcPct val="150000"/>
              </a:lnSpc>
            </a:pPr>
            <a:r>
              <a:rPr lang="en-US" sz="1800" b="1" dirty="0">
                <a:latin typeface="Times New Roman" panose="02020603050405020304" pitchFamily="18" charset="0"/>
              </a:rPr>
              <a:t>AI-Powered Data Validation</a:t>
            </a:r>
            <a:r>
              <a:rPr lang="en-US" sz="1800" dirty="0">
                <a:latin typeface="Times New Roman" panose="02020603050405020304" pitchFamily="18" charset="0"/>
              </a:rPr>
              <a:t>: Implement machine learning models to enhance the accuracy of expense validation and compliance checks.</a:t>
            </a:r>
          </a:p>
          <a:p>
            <a:pPr algn="just">
              <a:lnSpc>
                <a:spcPct val="150000"/>
              </a:lnSpc>
            </a:pPr>
            <a:r>
              <a:rPr lang="en-US" sz="1800" b="1" dirty="0">
                <a:latin typeface="Times New Roman" panose="02020603050405020304" pitchFamily="18" charset="0"/>
              </a:rPr>
              <a:t>ERP Integration</a:t>
            </a:r>
            <a:r>
              <a:rPr lang="en-US" sz="1800" dirty="0">
                <a:latin typeface="Times New Roman" panose="02020603050405020304" pitchFamily="18" charset="0"/>
              </a:rPr>
              <a:t>: Seamlessly connect the bot with enterprise systems like SAP or Oracle for automated data synchronization.</a:t>
            </a:r>
          </a:p>
          <a:p>
            <a:pPr algn="just">
              <a:lnSpc>
                <a:spcPct val="150000"/>
              </a:lnSpc>
            </a:pPr>
            <a:r>
              <a:rPr lang="en-US" sz="1800" b="1" dirty="0">
                <a:latin typeface="Times New Roman" panose="02020603050405020304" pitchFamily="18" charset="0"/>
              </a:rPr>
              <a:t>Multi-Language OCR Support</a:t>
            </a:r>
            <a:r>
              <a:rPr lang="en-US" sz="1800" dirty="0">
                <a:latin typeface="Times New Roman" panose="02020603050405020304" pitchFamily="18" charset="0"/>
              </a:rPr>
              <a:t>: Enable processing of invoices in multiple languages to cater to global operations.</a:t>
            </a:r>
          </a:p>
          <a:p>
            <a:pPr algn="just">
              <a:lnSpc>
                <a:spcPct val="150000"/>
              </a:lnSpc>
            </a:pPr>
            <a:r>
              <a:rPr lang="en-US" sz="1800" b="1" dirty="0">
                <a:latin typeface="Times New Roman" panose="02020603050405020304" pitchFamily="18" charset="0"/>
              </a:rPr>
              <a:t>Mobile App Integration</a:t>
            </a:r>
            <a:r>
              <a:rPr lang="en-US" sz="1800" dirty="0">
                <a:latin typeface="Times New Roman" panose="02020603050405020304" pitchFamily="18" charset="0"/>
              </a:rPr>
              <a:t>: Create a mobile-friendly interface for users to upload invoices and receive notifications.</a:t>
            </a:r>
          </a:p>
          <a:p>
            <a:pPr algn="just">
              <a:lnSpc>
                <a:spcPct val="150000"/>
              </a:lnSpc>
            </a:pPr>
            <a:r>
              <a:rPr lang="en-US" sz="1800" b="1" dirty="0">
                <a:latin typeface="Times New Roman" panose="02020603050405020304" pitchFamily="18" charset="0"/>
              </a:rPr>
              <a:t>Real-Time Analytics</a:t>
            </a:r>
            <a:r>
              <a:rPr lang="en-US" sz="1800" dirty="0">
                <a:latin typeface="Times New Roman" panose="02020603050405020304" pitchFamily="18" charset="0"/>
              </a:rPr>
              <a:t>: Develop dashboards to provide real-time insights into processed invoices and expense trends.</a:t>
            </a:r>
          </a:p>
        </p:txBody>
      </p:sp>
      <p:sp>
        <p:nvSpPr>
          <p:cNvPr id="4" name="Rectangle 1">
            <a:extLst>
              <a:ext uri="{FF2B5EF4-FFF2-40B4-BE49-F238E27FC236}">
                <a16:creationId xmlns:a16="http://schemas.microsoft.com/office/drawing/2014/main" id="{8BCB6460-4209-6D56-3274-537E45CC2467}"/>
              </a:ext>
            </a:extLst>
          </p:cNvPr>
          <p:cNvSpPr>
            <a:spLocks noChangeArrowheads="1"/>
          </p:cNvSpPr>
          <p:nvPr/>
        </p:nvSpPr>
        <p:spPr bwMode="auto">
          <a:xfrm>
            <a:off x="188109" y="2864262"/>
            <a:ext cx="89289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5" name="TextBox 4">
            <a:extLst>
              <a:ext uri="{FF2B5EF4-FFF2-40B4-BE49-F238E27FC236}">
                <a16:creationId xmlns:a16="http://schemas.microsoft.com/office/drawing/2014/main" id="{8BB25EC0-F43A-11C7-0E9E-F3D921579A56}"/>
              </a:ext>
            </a:extLst>
          </p:cNvPr>
          <p:cNvSpPr txBox="1"/>
          <p:nvPr/>
        </p:nvSpPr>
        <p:spPr>
          <a:xfrm>
            <a:off x="287524" y="1160748"/>
            <a:ext cx="8763000" cy="493981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u="sng"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https://www.researchgate.net/publication/373144276_Expense_Tracker</a:t>
            </a:r>
            <a:endParaRPr lang="en-IN" u="sng"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IN" u="sng"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u="sng"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https://www.researchgate.net/publication/381850671_INTELLIGENT_AUTOMATION_IN_ACCOUNTING_AND_FINANCIAL_REPORTING</a:t>
            </a:r>
            <a:endParaRPr lang="en-IN" u="sng"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IN" u="sng"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u="sng"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https://www.uipath.com/blog/product-and-updates/uipath-at-workautomating-the-invoice-process</a:t>
            </a:r>
            <a:endParaRPr lang="en-IN" u="sng"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IN" u="sng"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u="sng" dirty="0">
                <a:latin typeface="Times New Roman" panose="02020603050405020304" pitchFamily="18" charset="0"/>
                <a:cs typeface="Times New Roman" panose="02020603050405020304" pitchFamily="18" charset="0"/>
              </a:rPr>
              <a:t>https://ieeeaps.org/membership/ieee-expense-policy </a:t>
            </a:r>
          </a:p>
          <a:p>
            <a:pPr marL="285750" indent="-285750" algn="just">
              <a:lnSpc>
                <a:spcPct val="150000"/>
              </a:lnSpc>
              <a:buFont typeface="Arial" panose="020B0604020202020204" pitchFamily="34" charset="0"/>
              <a:buChar char="•"/>
            </a:pPr>
            <a:endParaRPr lang="en-IN" u="sng"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u="sng" dirty="0">
                <a:latin typeface="Times New Roman" panose="02020603050405020304" pitchFamily="18" charset="0"/>
                <a:cs typeface="Times New Roman" panose="02020603050405020304" pitchFamily="18" charset="0"/>
              </a:rPr>
              <a:t> https://www.ieee-ras.org/about-ras/voluntee</a:t>
            </a:r>
          </a:p>
          <a:p>
            <a:endParaRPr lang="en-IN"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10105</TotalTime>
  <Words>1360</Words>
  <Application>Microsoft Office PowerPoint</Application>
  <PresentationFormat>On-screen Show (4:3)</PresentationFormat>
  <Paragraphs>117</Paragraphs>
  <Slides>20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Open Sans Extrabold</vt:lpstr>
      <vt:lpstr>Open Sans Light</vt:lpstr>
      <vt:lpstr>Times New Roman</vt:lpstr>
      <vt:lpstr>Wingdings</vt:lpstr>
      <vt:lpstr>Office Theme</vt:lpstr>
      <vt:lpstr>PowerPoint Presentation</vt:lpstr>
      <vt:lpstr>Abstract</vt:lpstr>
      <vt:lpstr>Need for the Reimbursement Bot </vt:lpstr>
      <vt:lpstr>Advantages </vt:lpstr>
      <vt:lpstr>Literature Survey</vt:lpstr>
      <vt:lpstr>Main Objective</vt:lpstr>
      <vt:lpstr>Architecture</vt:lpstr>
      <vt:lpstr>System Requirements</vt:lpstr>
      <vt:lpstr>Functional Description</vt:lpstr>
      <vt:lpstr>Table Design</vt:lpstr>
      <vt:lpstr>Process Design</vt:lpstr>
      <vt:lpstr>Implementation</vt:lpstr>
      <vt:lpstr>Implementation</vt:lpstr>
      <vt:lpstr>Implementation</vt:lpstr>
      <vt:lpstr>Implementation</vt:lpstr>
      <vt:lpstr>Testing</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bhargavi reddy</cp:lastModifiedBy>
  <cp:revision>1742</cp:revision>
  <dcterms:created xsi:type="dcterms:W3CDTF">2013-05-17T03:00:03Z</dcterms:created>
  <dcterms:modified xsi:type="dcterms:W3CDTF">2024-11-22T06:36:49Z</dcterms:modified>
</cp:coreProperties>
</file>